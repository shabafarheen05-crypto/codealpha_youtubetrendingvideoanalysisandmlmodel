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17" r:id="rId5"/>
    <p:sldId id="309" r:id="rId6"/>
    <p:sldId id="318" r:id="rId7"/>
    <p:sldId id="310" r:id="rId8"/>
    <p:sldId id="319" r:id="rId9"/>
    <p:sldId id="323" r:id="rId10"/>
    <p:sldId id="324" r:id="rId11"/>
    <p:sldId id="325" r:id="rId12"/>
    <p:sldId id="326" r:id="rId13"/>
    <p:sldId id="327" r:id="rId14"/>
    <p:sldId id="320" r:id="rId15"/>
    <p:sldId id="321" r:id="rId16"/>
    <p:sldId id="331" r:id="rId17"/>
    <p:sldId id="328" r:id="rId18"/>
    <p:sldId id="322" r:id="rId19"/>
    <p:sldId id="329" r:id="rId20"/>
    <p:sldId id="3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12/10/2025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509882" cy="3657600"/>
          </a:xfrm>
        </p:spPr>
        <p:txBody>
          <a:bodyPr anchor="ctr"/>
          <a:lstStyle/>
          <a:p>
            <a:r>
              <a:rPr lang="en-US" dirty="0"/>
              <a:t>YOUTUBE TRENDING VIDEO ANALYSIS &amp; MACHINE LEARNING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26B8E-F5BF-4CE3-9A34-1225520A201A}"/>
              </a:ext>
            </a:extLst>
          </p:cNvPr>
          <p:cNvSpPr txBox="1"/>
          <p:nvPr/>
        </p:nvSpPr>
        <p:spPr>
          <a:xfrm>
            <a:off x="7592037" y="4572000"/>
            <a:ext cx="3833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by Shaba Farheen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42238"/>
            <a:ext cx="5838738" cy="486561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/>
          <a:p>
            <a:r>
              <a:rPr lang="en-US" sz="1800" dirty="0"/>
              <a:t>Analyzed YouTube trending video data to uncover patterns in views, categories, tags, and upload trends. Built a machine learning model to predict video popularity based on key features. This project showcases data cleaning, visualization, feature engineering, and predictive modeling.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9761-1564-17CB-2D73-6A71C2DB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47" y="855677"/>
            <a:ext cx="7534656" cy="914400"/>
          </a:xfrm>
        </p:spPr>
        <p:txBody>
          <a:bodyPr/>
          <a:lstStyle/>
          <a:p>
            <a:r>
              <a:rPr lang="en-US" dirty="0"/>
              <a:t>PROBLEM STATEMENT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00D53-41C8-3CA3-5C83-621F2A4254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785" y="1610686"/>
            <a:ext cx="11283193" cy="463911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8000" dirty="0"/>
          </a:p>
          <a:p>
            <a:r>
              <a:rPr lang="en-US" sz="7200" dirty="0"/>
              <a:t>The YouTube Trending Videos dataset contains daily records of videos that reached the trending list across different categories.</a:t>
            </a:r>
          </a:p>
          <a:p>
            <a:r>
              <a:rPr lang="en-US" sz="7200" dirty="0"/>
              <a:t>However, raw trending data alone does not provide clear insights into:</a:t>
            </a:r>
          </a:p>
          <a:p>
            <a:r>
              <a:rPr lang="en-US" sz="7200" dirty="0"/>
              <a:t>What type of content trends the most</a:t>
            </a:r>
          </a:p>
          <a:p>
            <a:r>
              <a:rPr lang="en-US" sz="7200" dirty="0"/>
              <a:t>Which categories dominate the trending page</a:t>
            </a:r>
          </a:p>
          <a:p>
            <a:r>
              <a:rPr lang="en-US" sz="7200" dirty="0"/>
              <a:t>How views, likes, comments, and engagement vary</a:t>
            </a:r>
          </a:p>
          <a:p>
            <a:r>
              <a:rPr lang="en-US" sz="7200" dirty="0"/>
              <a:t>Whether some days get higher trending activity</a:t>
            </a:r>
          </a:p>
          <a:p>
            <a:r>
              <a:rPr lang="en-US" sz="7200" dirty="0"/>
              <a:t>Trends in user interaction (likes/dislikes/comments)</a:t>
            </a:r>
          </a:p>
          <a:p>
            <a:r>
              <a:rPr lang="en-US" sz="7200" dirty="0"/>
              <a:t>The challenge is to analyze category-wise performance, engagement metrics, daily patterns, and creator trends to help marketers, creators, and analysts understand what drives content virality on YouTube.</a:t>
            </a:r>
          </a:p>
          <a:p>
            <a:r>
              <a:rPr lang="en-US" sz="7200" dirty="0"/>
              <a:t>This project aims to uncover viewership patterns, engagement </a:t>
            </a:r>
            <a:r>
              <a:rPr lang="en-US" sz="7200" dirty="0" err="1"/>
              <a:t>behaviour</a:t>
            </a:r>
            <a:r>
              <a:rPr lang="en-US" sz="7200" dirty="0"/>
              <a:t>, category strengths, and factors contributing to trending videos.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2162D-3D84-AB28-251D-8B856D403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65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65" y="362992"/>
            <a:ext cx="10494376" cy="886967"/>
          </a:xfrm>
        </p:spPr>
        <p:txBody>
          <a:bodyPr/>
          <a:lstStyle/>
          <a:p>
            <a:r>
              <a:rPr lang="en-IN" dirty="0"/>
              <a:t>Task 1 - Data Preprocessing &amp; Feature Engineering</a:t>
            </a:r>
            <a:r>
              <a:rPr lang="en-US" sz="3200" dirty="0"/>
              <a:t>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8840" y="1845578"/>
            <a:ext cx="5444455" cy="4070589"/>
          </a:xfrm>
        </p:spPr>
        <p:txBody>
          <a:bodyPr>
            <a:normAutofit fontScale="92500" lnSpcReduction="10000"/>
          </a:bodyPr>
          <a:lstStyle/>
          <a:p>
            <a:r>
              <a:rPr lang="en-IN" sz="1900" dirty="0"/>
              <a:t>1.1 Data Loading</a:t>
            </a:r>
          </a:p>
          <a:p>
            <a:endParaRPr lang="en-IN" sz="1900" dirty="0"/>
          </a:p>
          <a:p>
            <a:r>
              <a:rPr lang="en-IN" sz="1900" dirty="0"/>
              <a:t>✔ Imported the dataset in </a:t>
            </a:r>
            <a:r>
              <a:rPr lang="en-IN" sz="1900" dirty="0" err="1"/>
              <a:t>Jupyter</a:t>
            </a:r>
            <a:r>
              <a:rPr lang="en-IN" sz="1900" dirty="0"/>
              <a:t> Notebook using Pandas:</a:t>
            </a:r>
          </a:p>
          <a:p>
            <a:r>
              <a:rPr lang="en-IN" sz="1900" dirty="0" err="1"/>
              <a:t>df</a:t>
            </a:r>
            <a:r>
              <a:rPr lang="en-IN" sz="1900" dirty="0"/>
              <a:t> = </a:t>
            </a:r>
            <a:r>
              <a:rPr lang="en-IN" sz="1900" dirty="0" err="1"/>
              <a:t>pd.read_csv</a:t>
            </a:r>
            <a:r>
              <a:rPr lang="en-IN" sz="1900" dirty="0"/>
              <a:t>("USvideos.csv")</a:t>
            </a:r>
          </a:p>
          <a:p>
            <a:endParaRPr lang="en-IN" sz="1900" dirty="0"/>
          </a:p>
          <a:p>
            <a:r>
              <a:rPr lang="en-IN" sz="1900" dirty="0"/>
              <a:t>1.2 Data Cleaning</a:t>
            </a:r>
          </a:p>
          <a:p>
            <a:r>
              <a:rPr lang="en-IN" sz="1900" dirty="0"/>
              <a:t>✔ Checked missing values</a:t>
            </a:r>
          </a:p>
          <a:p>
            <a:r>
              <a:rPr lang="en-IN" sz="1900" dirty="0"/>
              <a:t>✔ Dropped unnecessary or duplicate columns</a:t>
            </a:r>
          </a:p>
          <a:p>
            <a:r>
              <a:rPr lang="en-IN" sz="1900" dirty="0"/>
              <a:t>✔ Converted </a:t>
            </a:r>
            <a:r>
              <a:rPr lang="en-IN" sz="1900" dirty="0" err="1"/>
              <a:t>trending_date</a:t>
            </a:r>
            <a:r>
              <a:rPr lang="en-IN" sz="1900" dirty="0"/>
              <a:t> to datetime format</a:t>
            </a:r>
          </a:p>
          <a:p>
            <a:r>
              <a:rPr lang="en-IN" sz="1900" dirty="0"/>
              <a:t>✔ Cleaned text fields (title, description, tags)</a:t>
            </a:r>
          </a:p>
          <a:p>
            <a:r>
              <a:rPr lang="en-IN" sz="1900" dirty="0"/>
              <a:t>✔ Handled incorrect datatypes</a:t>
            </a:r>
          </a:p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5255413" cy="3877055"/>
          </a:xfrm>
        </p:spPr>
        <p:txBody>
          <a:bodyPr>
            <a:normAutofit fontScale="92500" lnSpcReduction="10000"/>
          </a:bodyPr>
          <a:lstStyle/>
          <a:p>
            <a:r>
              <a:rPr lang="en-IN" sz="1900" dirty="0"/>
              <a:t>1.3 Feature Engineering</a:t>
            </a:r>
          </a:p>
          <a:p>
            <a:br>
              <a:rPr lang="en-IN" sz="1900" dirty="0"/>
            </a:br>
            <a:endParaRPr lang="en-IN" sz="1900" dirty="0"/>
          </a:p>
          <a:p>
            <a:r>
              <a:rPr lang="en-IN" sz="1900" dirty="0"/>
              <a:t>Created new columns:</a:t>
            </a:r>
          </a:p>
          <a:p>
            <a:r>
              <a:rPr lang="en-IN" sz="1900" dirty="0"/>
              <a:t>✔ </a:t>
            </a:r>
            <a:r>
              <a:rPr lang="en-IN" sz="1900" dirty="0" err="1"/>
              <a:t>day_of_week</a:t>
            </a:r>
            <a:r>
              <a:rPr lang="en-IN" sz="1900" dirty="0"/>
              <a:t> → Extracted from trending date</a:t>
            </a:r>
          </a:p>
          <a:p>
            <a:r>
              <a:rPr lang="en-IN" sz="1900" dirty="0"/>
              <a:t>✔ </a:t>
            </a:r>
            <a:r>
              <a:rPr lang="en-IN" sz="1900" dirty="0" err="1"/>
              <a:t>title_length</a:t>
            </a:r>
            <a:r>
              <a:rPr lang="en-IN" sz="1900" dirty="0"/>
              <a:t> → Character count</a:t>
            </a:r>
          </a:p>
          <a:p>
            <a:r>
              <a:rPr lang="en-IN" sz="1900" dirty="0"/>
              <a:t>✔ </a:t>
            </a:r>
            <a:r>
              <a:rPr lang="en-IN" sz="1900" dirty="0" err="1"/>
              <a:t>tags_count</a:t>
            </a:r>
            <a:r>
              <a:rPr lang="en-IN" sz="1900" dirty="0"/>
              <a:t> → Number of tags</a:t>
            </a:r>
          </a:p>
          <a:p>
            <a:r>
              <a:rPr lang="en-IN" sz="1900" dirty="0"/>
              <a:t>✔ </a:t>
            </a:r>
            <a:r>
              <a:rPr lang="en-IN" sz="1900" dirty="0" err="1"/>
              <a:t>engagement_rate</a:t>
            </a:r>
            <a:r>
              <a:rPr lang="en-IN" sz="1900" dirty="0"/>
              <a:t> →</a:t>
            </a:r>
          </a:p>
          <a:p>
            <a:r>
              <a:rPr lang="en-IN" sz="1900" dirty="0"/>
              <a:t>(</a:t>
            </a:r>
            <a:r>
              <a:rPr lang="en-IN" sz="1900" dirty="0" err="1"/>
              <a:t>df</a:t>
            </a:r>
            <a:r>
              <a:rPr lang="en-IN" sz="1900" dirty="0"/>
              <a:t>['likes'] + </a:t>
            </a:r>
            <a:r>
              <a:rPr lang="en-IN" sz="1900" dirty="0" err="1"/>
              <a:t>df</a:t>
            </a:r>
            <a:r>
              <a:rPr lang="en-IN" sz="1900" dirty="0"/>
              <a:t>['</a:t>
            </a:r>
            <a:r>
              <a:rPr lang="en-IN" sz="1900" dirty="0" err="1"/>
              <a:t>comment_count</a:t>
            </a:r>
            <a:r>
              <a:rPr lang="en-IN" sz="1900" dirty="0"/>
              <a:t>']) / </a:t>
            </a:r>
            <a:r>
              <a:rPr lang="en-IN" sz="1900" dirty="0" err="1"/>
              <a:t>df</a:t>
            </a:r>
            <a:r>
              <a:rPr lang="en-IN" sz="1900" dirty="0"/>
              <a:t>['views']</a:t>
            </a:r>
          </a:p>
          <a:p>
            <a:br>
              <a:rPr lang="en-IN" sz="1900" dirty="0"/>
            </a:br>
            <a:endParaRPr lang="en-IN" sz="1900" dirty="0"/>
          </a:p>
          <a:p>
            <a:r>
              <a:rPr lang="en-IN" sz="1900" dirty="0"/>
              <a:t>✔ </a:t>
            </a:r>
            <a:r>
              <a:rPr lang="en-IN" sz="1900" dirty="0" err="1"/>
              <a:t>like_dislike_ratio</a:t>
            </a:r>
            <a:endParaRPr lang="en-IN" sz="1900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3EB1D-B75D-DD2A-8971-068518DA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29" y="679508"/>
            <a:ext cx="9454393" cy="914400"/>
          </a:xfrm>
        </p:spPr>
        <p:txBody>
          <a:bodyPr/>
          <a:lstStyle/>
          <a:p>
            <a:r>
              <a:rPr lang="en-US" dirty="0"/>
              <a:t>Task 2 — Exploratory Data Analysis (EDA)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CC59A-0859-741F-CD59-83F732B0674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sz="1800" dirty="0"/>
              <a:t>Performed analysis on:</a:t>
            </a:r>
          </a:p>
          <a:p>
            <a:r>
              <a:rPr lang="en-IN" sz="1800" dirty="0"/>
              <a:t>✔ Trending frequency by day of week</a:t>
            </a:r>
          </a:p>
          <a:p>
            <a:r>
              <a:rPr lang="en-IN" sz="1800" dirty="0"/>
              <a:t>✔ Most popular video categories </a:t>
            </a:r>
          </a:p>
          <a:p>
            <a:r>
              <a:rPr lang="en-IN" sz="1800" dirty="0"/>
              <a:t>✔ View distribution</a:t>
            </a:r>
          </a:p>
          <a:p>
            <a:r>
              <a:rPr lang="en-IN" sz="1800" dirty="0"/>
              <a:t>✔ Like &amp; comment patterns</a:t>
            </a:r>
          </a:p>
          <a:p>
            <a:r>
              <a:rPr lang="en-IN" sz="1800" dirty="0"/>
              <a:t>✔ Creator-wise analysis</a:t>
            </a:r>
          </a:p>
          <a:p>
            <a:r>
              <a:rPr lang="en-IN" sz="1800" dirty="0"/>
              <a:t>✔ Engagement distribution across categories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BCA0B-99A3-C0D2-760F-590F3041E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383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272F6-4033-799F-8045-3F2EC5F56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286" y="324031"/>
            <a:ext cx="10360152" cy="914400"/>
          </a:xfrm>
        </p:spPr>
        <p:txBody>
          <a:bodyPr/>
          <a:lstStyle/>
          <a:p>
            <a:r>
              <a:rPr lang="en-IN" dirty="0"/>
              <a:t>COUNT OF TRENDING VIDEOS PER CATEGORY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07BF1-22A4-6322-E5E7-06FB985EB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EE76AB-88E8-97C3-B09F-0B5EBA7CD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92" y="2270125"/>
            <a:ext cx="5630461" cy="3806644"/>
          </a:xfrm>
          <a:prstGeom prst="rect">
            <a:avLst/>
          </a:prstGeom>
        </p:spPr>
      </p:pic>
      <p:sp>
        <p:nvSpPr>
          <p:cNvPr id="22" name="Rectangle 12">
            <a:extLst>
              <a:ext uri="{FF2B5EF4-FFF2-40B4-BE49-F238E27FC236}">
                <a16:creationId xmlns:a16="http://schemas.microsoft.com/office/drawing/2014/main" id="{ED288E07-78B8-E23D-8CCB-C587CB092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668" y="2704009"/>
            <a:ext cx="531141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 chart show</a:t>
            </a:r>
            <a:r>
              <a:rPr lang="en-US" altLang="en-US" dirty="0">
                <a:latin typeface="Arial" panose="020B0604020202020204" pitchFamily="34" charset="0"/>
              </a:rPr>
              <a:t>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many trending videos belong to each YouTube category. It first sets the figure size for better readability, then uses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value_counts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calculate how often each category appears in the dataset. The results are plotted as a teal-colored bar chart, with a title added to explain the visualization. The x-axis labels are rotated to prevent overlap,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plt.show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displays the final graph. Overall, this chart helps identify which categories trend the most, making it easy to see viewer preferences and content dominance on YouTube.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120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86E7E-471E-4EFD-9A6C-5C15B5E25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32BC-37A6-5F00-F280-1AFAEBB6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36" y="369116"/>
            <a:ext cx="10360152" cy="914400"/>
          </a:xfrm>
        </p:spPr>
        <p:txBody>
          <a:bodyPr/>
          <a:lstStyle/>
          <a:p>
            <a:r>
              <a:rPr lang="en-IN" dirty="0"/>
              <a:t>CORRELATION MATRIX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EE6C3D-6A30-5B69-31A3-6983CE658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0116BE-12B4-A884-1A26-A0BC5C9CF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36" y="2550253"/>
            <a:ext cx="4747499" cy="3701336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6AD5E89A-19D5-163E-AED5-4B0AB073F8E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24631" y="2120490"/>
            <a:ext cx="534378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heatmap shows the correlation between all numerical columns in the dataset.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df.corr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numeric_only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=True)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function calculates how strongly each numeric feature is related to the others.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sns.heatmap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function visualizes these correlations, with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annot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=True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displaying the exact values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cmap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coolwarm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adding a color scale where warm colors show strong positive correlation and cool colors show strong negative correlation. The plot size is set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plt.figure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figsize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=(8,5))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the final heatmap is displayed with a title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plt.show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This helps quickly identify which factors have strong relationships in the data.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534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33A2-A828-792D-3B2A-6CA3A27A9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30" y="302004"/>
            <a:ext cx="10360152" cy="914400"/>
          </a:xfrm>
        </p:spPr>
        <p:txBody>
          <a:bodyPr/>
          <a:lstStyle/>
          <a:p>
            <a:r>
              <a:rPr lang="en-IN" dirty="0"/>
              <a:t>LIKES VS VIEWS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1815FD-070E-C18F-1089-268FEBD0489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78918" y="1602297"/>
            <a:ext cx="4799940" cy="326479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85B91D-4A6F-B351-9284-9823988F6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167667F-9494-A8D4-C124-A0A73484D40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34306" y="2415526"/>
            <a:ext cx="534262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scatter plot shows the relationship between likes and views on YouTube videos. Each point represents a video, with likes on the x-axis and views on the y-axis.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alpha=0.5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makes the points slightly transparent to reduce overlap. The figure size is set for better clarity, and a title is added before displaying the plot. This visualization helps identify whether videos with more likes generally receive more views.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467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0F5E-CEEE-E3BB-47BE-475837115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231" y="302004"/>
            <a:ext cx="10360152" cy="914400"/>
          </a:xfrm>
        </p:spPr>
        <p:txBody>
          <a:bodyPr/>
          <a:lstStyle/>
          <a:p>
            <a:r>
              <a:rPr lang="en-IN" dirty="0"/>
              <a:t>SENTIMENT DISTRIBUTION IN VIDEO TITLES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3394C18-1FCF-A094-C3BE-0D0B7CDCF5A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23517" y="1656663"/>
            <a:ext cx="5975233" cy="393879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772D7-6A8E-8941-C2E4-086169A4B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AD2C495-4B9E-7CBA-DEDD-2A2EE8EBEAD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34310" y="2130783"/>
            <a:ext cx="531094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plot show</a:t>
            </a:r>
            <a:r>
              <a:rPr lang="en-US" altLang="en-US" dirty="0">
                <a:latin typeface="Arial" panose="020B0604020202020204" pitchFamily="34" charset="0"/>
              </a:rPr>
              <a:t>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many video titles fall into each sentiment category (Positive, Neutral, Negative).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countplot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function counts the frequency of each sentiment label,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palette="Set2"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adds pleasant colors. The figure size is set for readability, a title is added, and the plot is displayed. This helps visualize the overall sentiment distribution in video titles.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133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A0BA-9A67-02EF-37BD-9B4D53A4C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899" y="377505"/>
            <a:ext cx="10360152" cy="914400"/>
          </a:xfrm>
        </p:spPr>
        <p:txBody>
          <a:bodyPr/>
          <a:lstStyle/>
          <a:p>
            <a:r>
              <a:rPr lang="en-IN" dirty="0"/>
              <a:t>VIEW BASED ON SENTIMENT CATEGORY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A3F6EE-38E5-2F4F-FB87-E58919642DA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70452" y="2150103"/>
            <a:ext cx="6261196" cy="347844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4CC03-969C-087B-B897-4AC71A70C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F776E44-923C-7ED8-27C3-2C90E4B4DF6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74514" y="2859376"/>
            <a:ext cx="50407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boxplot shows how video views vary across different sentiment categories (Positive, Neutral, Negative). The x-axis represents the sentiment label, while the y-axis shows the number of views.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palette="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coolwarm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adds color contrast, and the plot helps compare how sentiment in video titles relates to view counts.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738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FD8C-9DD3-1C87-09A3-0F4C208E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3 — Visualizations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8A3C-29D0-1E84-A01F-BE3573AFD1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672625"/>
            <a:ext cx="10670796" cy="335657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br>
              <a:rPr lang="en-IN" sz="4500" dirty="0"/>
            </a:br>
            <a:r>
              <a:rPr lang="en-IN" sz="7200" dirty="0"/>
              <a:t>Created meaningful charts such as:</a:t>
            </a:r>
          </a:p>
          <a:p>
            <a:pPr marL="0" indent="0">
              <a:buNone/>
            </a:pPr>
            <a:br>
              <a:rPr lang="en-IN" sz="7200" dirty="0"/>
            </a:br>
            <a:endParaRPr lang="en-IN" sz="7200" dirty="0"/>
          </a:p>
          <a:p>
            <a:pPr marL="0" indent="0">
              <a:buNone/>
            </a:pPr>
            <a:r>
              <a:rPr lang="en-IN" sz="7200" dirty="0"/>
              <a:t>✔ Trending Videos by Day of Week</a:t>
            </a:r>
          </a:p>
          <a:p>
            <a:pPr marL="0" indent="0">
              <a:buNone/>
            </a:pPr>
            <a:r>
              <a:rPr lang="en-IN" sz="7200" dirty="0"/>
              <a:t>✔ Category-wise video count</a:t>
            </a:r>
          </a:p>
          <a:p>
            <a:pPr marL="0" indent="0">
              <a:buNone/>
            </a:pPr>
            <a:r>
              <a:rPr lang="en-IN" sz="7200" dirty="0"/>
              <a:t>✔ Top 10 Most Viewed Trending Videos</a:t>
            </a:r>
          </a:p>
          <a:p>
            <a:pPr marL="0" indent="0">
              <a:buNone/>
            </a:pPr>
            <a:r>
              <a:rPr lang="en-IN" sz="7200" dirty="0"/>
              <a:t>✔ Likes vs Views scatter plot</a:t>
            </a:r>
          </a:p>
          <a:p>
            <a:pPr marL="0" indent="0">
              <a:buNone/>
            </a:pPr>
            <a:r>
              <a:rPr lang="en-IN" sz="7200" dirty="0"/>
              <a:t>✔ Engagement rate distribution</a:t>
            </a:r>
          </a:p>
          <a:p>
            <a:pPr marL="0" indent="0">
              <a:buNone/>
            </a:pPr>
            <a:r>
              <a:rPr lang="en-IN" sz="7200" dirty="0"/>
              <a:t>✔ Comment count comparison</a:t>
            </a:r>
          </a:p>
          <a:p>
            <a:pPr marL="0" indent="0">
              <a:buNone/>
            </a:pPr>
            <a:r>
              <a:rPr lang="en-IN" sz="7200" dirty="0"/>
              <a:t>✔ Correlation heatmap</a:t>
            </a:r>
          </a:p>
          <a:p>
            <a:pPr marL="0" indent="0">
              <a:buNone/>
            </a:pPr>
            <a:endParaRPr lang="en-IN" sz="7200" dirty="0"/>
          </a:p>
          <a:p>
            <a:pPr marL="0" indent="0">
              <a:buNone/>
            </a:pPr>
            <a:r>
              <a:rPr lang="en-IN" sz="7200" dirty="0"/>
              <a:t>These visuals helped understand the platform’s engagement trends.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3A6D2-78A8-359B-5E2A-759BFE5B7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143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3A14A-0E88-0416-76F5-64C9E7EB7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9116"/>
            <a:ext cx="10360152" cy="922789"/>
          </a:xfrm>
        </p:spPr>
        <p:txBody>
          <a:bodyPr/>
          <a:lstStyle/>
          <a:p>
            <a:r>
              <a:rPr lang="en-US" dirty="0"/>
              <a:t>3.1 Analysis &amp; Insights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9EC04-6A70-F79B-FF79-95022B856C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561" y="1098957"/>
            <a:ext cx="5760440" cy="49411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dirty="0"/>
              <a:t>3.1.1 Category Performance</a:t>
            </a:r>
            <a:br>
              <a:rPr lang="en-US" sz="1900" dirty="0"/>
            </a:br>
            <a:endParaRPr lang="en-US" sz="1900" dirty="0"/>
          </a:p>
          <a:p>
            <a:pPr marL="0" indent="0">
              <a:buNone/>
            </a:pPr>
            <a:r>
              <a:rPr lang="en-US" sz="1900" dirty="0"/>
              <a:t>✔ Entertainment dominates the trending list with the highest number of videos.</a:t>
            </a:r>
          </a:p>
          <a:p>
            <a:pPr marL="0" indent="0">
              <a:buNone/>
            </a:pPr>
            <a:r>
              <a:rPr lang="en-US" sz="1900" dirty="0"/>
              <a:t>✔ Music videos generate the highest views and engagement.</a:t>
            </a:r>
          </a:p>
          <a:p>
            <a:pPr marL="0" indent="0">
              <a:buNone/>
            </a:pPr>
            <a:r>
              <a:rPr lang="en-US" sz="1900" dirty="0"/>
              <a:t>✔ Sports and News trend less frequently but show high interaction during major events.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3.1.2 Views &amp; Engagement Patterns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✔ Videos with strong viewer interaction (likes &amp; comments) are more likely to trend.</a:t>
            </a:r>
          </a:p>
          <a:p>
            <a:pPr marL="0" indent="0">
              <a:buNone/>
            </a:pPr>
            <a:r>
              <a:rPr lang="en-US" sz="1900" dirty="0"/>
              <a:t>✔ Some trending videos have millions of views but low engagement, indicating passive audiences (common in music &amp; trailers).</a:t>
            </a:r>
          </a:p>
          <a:p>
            <a:pPr marL="0" indent="0">
              <a:buNone/>
            </a:pPr>
            <a:r>
              <a:rPr lang="en-US" sz="1900" dirty="0"/>
              <a:t>✔ High engagement rate is seen in categories like Gaming, Commentary, and Vlogs.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F9E55-23C1-92D1-F7AC-02FA0542138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49798" y="1002485"/>
            <a:ext cx="5760441" cy="4941115"/>
          </a:xfrm>
        </p:spPr>
        <p:txBody>
          <a:bodyPr>
            <a:noAutofit/>
          </a:bodyPr>
          <a:lstStyle/>
          <a:p>
            <a:r>
              <a:rPr lang="en-US" sz="1800" dirty="0"/>
              <a:t>3.1.3 Day-Wise Trending Activity</a:t>
            </a:r>
          </a:p>
          <a:p>
            <a:r>
              <a:rPr lang="en-US" sz="1800" dirty="0"/>
              <a:t>✔ Friday and Saturday show the highest number of trending uploads.</a:t>
            </a:r>
          </a:p>
          <a:p>
            <a:r>
              <a:rPr lang="en-US" sz="1800" dirty="0"/>
              <a:t>✔ Monday has the lowest trending activity.</a:t>
            </a:r>
          </a:p>
          <a:p>
            <a:r>
              <a:rPr lang="en-US" sz="1800" dirty="0"/>
              <a:t>✔ Engagement peaks during weekends.</a:t>
            </a:r>
          </a:p>
          <a:p>
            <a:endParaRPr lang="en-US" sz="1800" dirty="0"/>
          </a:p>
          <a:p>
            <a:r>
              <a:rPr lang="en-US" sz="1800" dirty="0"/>
              <a:t>3.1.4 Like–Dislike Ratio</a:t>
            </a:r>
          </a:p>
          <a:p>
            <a:r>
              <a:rPr lang="en-US" sz="1800" dirty="0"/>
              <a:t>✔ Trending videos generally have a high like ratio.</a:t>
            </a:r>
          </a:p>
          <a:p>
            <a:r>
              <a:rPr lang="en-US" sz="1800" dirty="0"/>
              <a:t>✔ Categories such as Politics and News show higher dislike ratios due to polarizing content.</a:t>
            </a:r>
          </a:p>
          <a:p>
            <a:endParaRPr lang="en-US" sz="1800" dirty="0"/>
          </a:p>
          <a:p>
            <a:r>
              <a:rPr lang="en-US" sz="1800" dirty="0"/>
              <a:t>3.1.5 Comment </a:t>
            </a:r>
            <a:r>
              <a:rPr lang="en-US" sz="1800" dirty="0" err="1"/>
              <a:t>Behaviour</a:t>
            </a:r>
            <a:endParaRPr lang="en-US" sz="1800" dirty="0"/>
          </a:p>
          <a:p>
            <a:r>
              <a:rPr lang="en-US" sz="1800" dirty="0"/>
              <a:t>✔ Videos with more comments show higher community involvement.</a:t>
            </a:r>
          </a:p>
          <a:p>
            <a:r>
              <a:rPr lang="en-US" sz="1800" dirty="0"/>
              <a:t>✔ Music and Entertainment videos dominate comment volume.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70429-CBA7-E550-6AAB-D893C35CB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78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23258-AF38-403F-4225-CCD3D61EF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32" y="521209"/>
            <a:ext cx="10360152" cy="914400"/>
          </a:xfrm>
        </p:spPr>
        <p:txBody>
          <a:bodyPr/>
          <a:lstStyle/>
          <a:p>
            <a:r>
              <a:rPr lang="en-US" dirty="0"/>
              <a:t>Task 4: Machine Learning Model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0436F-2945-3C3F-7AC5-D5AB0CE175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6228" y="1627464"/>
            <a:ext cx="5578678" cy="4899171"/>
          </a:xfrm>
        </p:spPr>
        <p:txBody>
          <a:bodyPr>
            <a:noAutofit/>
          </a:bodyPr>
          <a:lstStyle/>
          <a:p>
            <a:r>
              <a:rPr lang="en-IN" sz="1800" dirty="0"/>
              <a:t>4.1 Objective</a:t>
            </a:r>
          </a:p>
          <a:p>
            <a:endParaRPr lang="en-IN" sz="1800" dirty="0"/>
          </a:p>
          <a:p>
            <a:r>
              <a:rPr lang="en-IN" sz="1800" dirty="0"/>
              <a:t>✔ Predict video engagement (views or likes) based on metadata, category, tags, upload time, and other features.</a:t>
            </a:r>
          </a:p>
          <a:p>
            <a:br>
              <a:rPr lang="en-IN" sz="1800" dirty="0"/>
            </a:br>
            <a:endParaRPr lang="en-IN" sz="1800" dirty="0"/>
          </a:p>
          <a:p>
            <a:r>
              <a:rPr lang="en-IN" sz="1800" dirty="0"/>
              <a:t>4.2 Model Used</a:t>
            </a:r>
          </a:p>
          <a:p>
            <a:endParaRPr lang="en-IN" sz="1800" dirty="0"/>
          </a:p>
          <a:p>
            <a:r>
              <a:rPr lang="en-IN" sz="1800" dirty="0"/>
              <a:t>✔ Linear Regression and Random Forest Regressor for predicting views.</a:t>
            </a:r>
          </a:p>
          <a:p>
            <a:r>
              <a:rPr lang="en-IN" sz="1800" dirty="0"/>
              <a:t>✔ Accuracy evaluated using RMSE and R² scores.</a:t>
            </a:r>
          </a:p>
          <a:p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BD324-CC2C-710A-AA69-477FDB50F4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7096" y="1627464"/>
            <a:ext cx="4870143" cy="425212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dirty="0"/>
              <a:t>4.3 Key Features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/>
              <a:t>✔ </a:t>
            </a:r>
            <a:r>
              <a:rPr lang="en-US" sz="2300" dirty="0" err="1"/>
              <a:t>category_id</a:t>
            </a:r>
            <a:r>
              <a:rPr lang="en-US" sz="2300" dirty="0"/>
              <a:t>, </a:t>
            </a:r>
            <a:r>
              <a:rPr lang="en-US" sz="2300" dirty="0" err="1"/>
              <a:t>title_length</a:t>
            </a:r>
            <a:r>
              <a:rPr lang="en-US" sz="2300" dirty="0"/>
              <a:t>, </a:t>
            </a:r>
            <a:r>
              <a:rPr lang="en-US" sz="2300" dirty="0" err="1"/>
              <a:t>tags_count</a:t>
            </a:r>
            <a:r>
              <a:rPr lang="en-US" sz="2300" dirty="0"/>
              <a:t>, </a:t>
            </a:r>
            <a:r>
              <a:rPr lang="en-US" sz="2300" dirty="0" err="1"/>
              <a:t>publish_hour</a:t>
            </a:r>
            <a:r>
              <a:rPr lang="en-US" sz="2300" dirty="0"/>
              <a:t>, </a:t>
            </a:r>
            <a:r>
              <a:rPr lang="en-US" sz="2300" dirty="0" err="1"/>
              <a:t>days_trending</a:t>
            </a:r>
            <a:endParaRPr lang="en-US" sz="2300" dirty="0"/>
          </a:p>
          <a:p>
            <a:pPr marL="0" indent="0">
              <a:buNone/>
            </a:pPr>
            <a:r>
              <a:rPr lang="en-US" sz="2300" dirty="0"/>
              <a:t>✔ Sentiment polarity score of comments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/>
              <a:t>4.4 Insights from Model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/>
              <a:t>✔ Category, upload timing, and title length strongly influence engagement.</a:t>
            </a:r>
          </a:p>
          <a:p>
            <a:pPr marL="0" indent="0">
              <a:buNone/>
            </a:pPr>
            <a:r>
              <a:rPr lang="en-US" sz="2300" dirty="0"/>
              <a:t>✔ Videos with more positive comments tend to have higher views.</a:t>
            </a:r>
          </a:p>
          <a:p>
            <a:pPr marL="0" indent="0">
              <a:buNone/>
            </a:pPr>
            <a:r>
              <a:rPr lang="en-US" sz="2300" dirty="0"/>
              <a:t>✔ Model predictions help channels optimize content strategy for better trending performance.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0D2E7-3D11-4F26-37F0-3FF952B1A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052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D24A-1789-7A30-2AD8-7B7999ABE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398" y="455666"/>
            <a:ext cx="10360152" cy="914400"/>
          </a:xfrm>
        </p:spPr>
        <p:txBody>
          <a:bodyPr/>
          <a:lstStyle/>
          <a:p>
            <a:r>
              <a:rPr lang="en-IN" dirty="0"/>
              <a:t>FEATURE IMPORTANCE IN PREDICTING VIREWS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8C0CD6-D0E6-3778-2749-169E93C181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02671" y="2270125"/>
            <a:ext cx="5809839" cy="39227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61AB0-65BA-F49C-1C8A-970FB2420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A496EB9-B168-0399-1536-40D36344D98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22057" y="2625612"/>
            <a:ext cx="453174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bar chart shows how important each feature is in the machine learning model used to predict video views. The x-axis displays the feature importance scores from the model, and the y-axis lists the feature names. This visualization helps identify which factors (like likes, comments, category, etc.) contribute most to predicting a video's views.</a:t>
            </a:r>
          </a:p>
        </p:txBody>
      </p:sp>
    </p:spTree>
    <p:extLst>
      <p:ext uri="{BB962C8B-B14F-4D97-AF65-F5344CB8AC3E}">
        <p14:creationId xmlns:p14="http://schemas.microsoft.com/office/powerpoint/2010/main" val="509452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42B8BC-A00A-8AC9-2E26-9AF108BD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5" y="385894"/>
            <a:ext cx="7534656" cy="914400"/>
          </a:xfrm>
        </p:spPr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6B67A-9B53-A089-F0A3-9961585F4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20DD756-AC69-D6F6-A101-53002BE7FAA2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377505" y="2008973"/>
            <a:ext cx="1097629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on high-engagement 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(Friday–Sunday) to increase the chances of trending.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categories like Entertainment, Music, and Gaming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consistently dominate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strong titles, relevant tags, and clear descriptions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search and recommendation visibility.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 engagement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comments, likes, and community interactions.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viewer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understand audience preferences and refine content strategy.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Leverage trending topics and events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timely and relevant content boosts.</a:t>
            </a:r>
          </a:p>
        </p:txBody>
      </p:sp>
    </p:spTree>
    <p:extLst>
      <p:ext uri="{BB962C8B-B14F-4D97-AF65-F5344CB8AC3E}">
        <p14:creationId xmlns:p14="http://schemas.microsoft.com/office/powerpoint/2010/main" val="2498002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CBC86-0134-8C1A-6619-5BDE70AC4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528B01-D17F-0E35-F336-DB40C14C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288" y="218114"/>
            <a:ext cx="7534656" cy="9144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A3D629-91B8-BF33-1C90-C2E2B05246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9940954" cy="3356576"/>
          </a:xfrm>
        </p:spPr>
        <p:txBody>
          <a:bodyPr>
            <a:normAutofit/>
          </a:bodyPr>
          <a:lstStyle/>
          <a:p>
            <a:r>
              <a:rPr lang="en-US" sz="1800" dirty="0"/>
              <a:t>This project analyzed YouTube trending videos using views, likes, comments, categories, channels, and sentiment patterns. Key insights include:</a:t>
            </a:r>
          </a:p>
          <a:p>
            <a:pPr marL="0" indent="0">
              <a:buNone/>
            </a:pPr>
            <a:r>
              <a:rPr lang="en-US" sz="1800" dirty="0"/>
              <a:t>✔ Positive comments dominate, reflecting overall viewer satisfaction.</a:t>
            </a:r>
          </a:p>
          <a:p>
            <a:pPr marL="0" indent="0">
              <a:buNone/>
            </a:pPr>
            <a:r>
              <a:rPr lang="en-US" sz="1800" dirty="0"/>
              <a:t>✔ Engagement depends on content category, upload timing, and channel influence rather than just subscriber count.</a:t>
            </a:r>
          </a:p>
          <a:p>
            <a:pPr marL="0" indent="0">
              <a:buNone/>
            </a:pPr>
            <a:r>
              <a:rPr lang="en-US" sz="1800" dirty="0"/>
              <a:t>✔ Machine learning models help predict potential trending success, providing actionable strategies for creators.</a:t>
            </a:r>
          </a:p>
          <a:p>
            <a:pPr marL="0" indent="0">
              <a:buNone/>
            </a:pPr>
            <a:r>
              <a:rPr lang="en-US" sz="1800" dirty="0"/>
              <a:t>✔ Overall, data-driven content optimization, audience engagement understanding, and predictive modeling can significantly improve YouTube performance.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5F1D7-6E76-44B2-455A-F2C62D4A2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26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4988" y="2051109"/>
            <a:ext cx="4605555" cy="2755782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{2181291E-24FE-47DD-B98D-FB12F0B3E089}tf11964407_win32</Template>
  <TotalTime>60</TotalTime>
  <Words>1454</Words>
  <Application>Microsoft Office PowerPoint</Application>
  <PresentationFormat>Widescreen</PresentationFormat>
  <Paragraphs>154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Unicode MS</vt:lpstr>
      <vt:lpstr>Calibri</vt:lpstr>
      <vt:lpstr>Courier New</vt:lpstr>
      <vt:lpstr>Gill Sans Nova Light</vt:lpstr>
      <vt:lpstr>Sagona Book</vt:lpstr>
      <vt:lpstr>Custom</vt:lpstr>
      <vt:lpstr>YOUTUBE TRENDING VIDEO ANALYSIS &amp; MACHINE LEARNING MODEL</vt:lpstr>
      <vt:lpstr>OVERVIEW</vt:lpstr>
      <vt:lpstr>PROBLEM STATEMENT </vt:lpstr>
      <vt:lpstr>Task 1 - Data Preprocessing &amp; Feature Engineerings</vt:lpstr>
      <vt:lpstr>Task 2 — Exploratory Data Analysis (EDA) </vt:lpstr>
      <vt:lpstr>COUNT OF TRENDING VIDEOS PER CATEGORY</vt:lpstr>
      <vt:lpstr>CORRELATION MATRIX</vt:lpstr>
      <vt:lpstr>LIKES VS VIEWS</vt:lpstr>
      <vt:lpstr>SENTIMENT DISTRIBUTION IN VIDEO TITLES</vt:lpstr>
      <vt:lpstr>VIEW BASED ON SENTIMENT CATEGORY</vt:lpstr>
      <vt:lpstr>Task 3 — Visualizations </vt:lpstr>
      <vt:lpstr>3.1 Analysis &amp; Insights </vt:lpstr>
      <vt:lpstr>Task 4: Machine Learning Model </vt:lpstr>
      <vt:lpstr>FEATURE IMPORTANCE IN PREDICTING VIREWS</vt:lpstr>
      <vt:lpstr>RECOMMENDATIONS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shaba farheen</dc:creator>
  <cp:lastModifiedBy>shaba farheen</cp:lastModifiedBy>
  <cp:revision>1</cp:revision>
  <dcterms:created xsi:type="dcterms:W3CDTF">2025-12-10T15:58:48Z</dcterms:created>
  <dcterms:modified xsi:type="dcterms:W3CDTF">2025-12-10T16:59:33Z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